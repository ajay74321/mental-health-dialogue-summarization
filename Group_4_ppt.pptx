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Quattrocento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tQ6HOwyq2iDfrYlUC/JzBe8YS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24FC957-08CD-4BD1-8F74-FA6AA4813D91}">
  <a:tblStyle styleId="{B24FC957-08CD-4BD1-8F74-FA6AA4813D91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fill>
          <a:solidFill>
            <a:srgbClr val="CACACA"/>
          </a:solidFill>
        </a:fill>
      </a:tcStyle>
    </a:band1H>
    <a:band2H>
      <a:tcTxStyle/>
    </a:band2H>
    <a:band1V>
      <a:tcTxStyle/>
      <a:tcStyle>
        <a:fill>
          <a:solidFill>
            <a:srgbClr val="CACACA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QuattrocentoSans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QuattrocentoSans-italic.fntdata"/><Relationship Id="rId6" Type="http://schemas.openxmlformats.org/officeDocument/2006/relationships/slide" Target="slides/slide1.xml"/><Relationship Id="rId18" Type="http://schemas.openxmlformats.org/officeDocument/2006/relationships/font" Target="fonts/Quattrocen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EADA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IITD_pptslide_jpeg-03.jpg" id="12" name="Google Shape;12;p13"/>
          <p:cNvPicPr preferRelativeResize="0"/>
          <p:nvPr/>
        </p:nvPicPr>
        <p:blipFill rotWithShape="1">
          <a:blip r:embed="rId2">
            <a:alphaModFix/>
          </a:blip>
          <a:srcRect b="0" l="72917" r="0" t="69259"/>
          <a:stretch/>
        </p:blipFill>
        <p:spPr>
          <a:xfrm>
            <a:off x="9715500" y="4749800"/>
            <a:ext cx="2476500" cy="210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3"/>
          <p:cNvSpPr txBox="1"/>
          <p:nvPr>
            <p:ph type="ctrTitle"/>
          </p:nvPr>
        </p:nvSpPr>
        <p:spPr>
          <a:xfrm>
            <a:off x="1524000" y="1063671"/>
            <a:ext cx="9753600" cy="18750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Quattrocento Sans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" type="subTitle"/>
          </p:nvPr>
        </p:nvSpPr>
        <p:spPr>
          <a:xfrm>
            <a:off x="5486400" y="3240578"/>
            <a:ext cx="5791200" cy="2042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  <a:defRPr sz="2400">
                <a:solidFill>
                  <a:srgbClr val="E9F7F6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9pPr>
          </a:lstStyle>
          <a:p/>
        </p:txBody>
      </p:sp>
      <p:sp>
        <p:nvSpPr>
          <p:cNvPr id="15" name="Google Shape;15;p13"/>
          <p:cNvSpPr txBox="1"/>
          <p:nvPr>
            <p:ph idx="10" type="dt"/>
          </p:nvPr>
        </p:nvSpPr>
        <p:spPr>
          <a:xfrm>
            <a:off x="54864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13"/>
          <p:cNvCxnSpPr/>
          <p:nvPr/>
        </p:nvCxnSpPr>
        <p:spPr>
          <a:xfrm>
            <a:off x="914400" y="3089628"/>
            <a:ext cx="1036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534784"/>
            <a:ext cx="3014164" cy="1658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1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4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" name="Google Shape;26;p14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7" name="Google Shape;2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1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5"/>
          <p:cNvSpPr txBox="1"/>
          <p:nvPr>
            <p:ph type="title"/>
          </p:nvPr>
        </p:nvSpPr>
        <p:spPr>
          <a:xfrm>
            <a:off x="831850" y="1712423"/>
            <a:ext cx="105156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6000"/>
              <a:buFont typeface="Quattrocento Sans"/>
              <a:buNone/>
              <a:defRPr b="0"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" type="body"/>
          </p:nvPr>
        </p:nvSpPr>
        <p:spPr>
          <a:xfrm>
            <a:off x="831850" y="455263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1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16"/>
          <p:cNvSpPr txBox="1"/>
          <p:nvPr>
            <p:ph idx="1" type="body"/>
          </p:nvPr>
        </p:nvSpPr>
        <p:spPr>
          <a:xfrm>
            <a:off x="845127" y="1381182"/>
            <a:ext cx="5181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2" type="body"/>
          </p:nvPr>
        </p:nvSpPr>
        <p:spPr>
          <a:xfrm>
            <a:off x="6172200" y="1381182"/>
            <a:ext cx="5181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6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16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3" name="Google Shape;43;p16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44" name="Google Shape;4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1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17"/>
          <p:cNvSpPr txBox="1"/>
          <p:nvPr>
            <p:ph idx="1" type="body"/>
          </p:nvPr>
        </p:nvSpPr>
        <p:spPr>
          <a:xfrm>
            <a:off x="845127" y="1381181"/>
            <a:ext cx="5156200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7"/>
          <p:cNvSpPr txBox="1"/>
          <p:nvPr>
            <p:ph idx="2" type="body"/>
          </p:nvPr>
        </p:nvSpPr>
        <p:spPr>
          <a:xfrm>
            <a:off x="845127" y="2206880"/>
            <a:ext cx="5156200" cy="3981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3" type="body"/>
          </p:nvPr>
        </p:nvSpPr>
        <p:spPr>
          <a:xfrm>
            <a:off x="6172200" y="1381182"/>
            <a:ext cx="5181601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7"/>
          <p:cNvSpPr txBox="1"/>
          <p:nvPr>
            <p:ph idx="4" type="body"/>
          </p:nvPr>
        </p:nvSpPr>
        <p:spPr>
          <a:xfrm>
            <a:off x="6172200" y="2206880"/>
            <a:ext cx="5181601" cy="3981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17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5" name="Google Shape;55;p17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56" name="Google Shape;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8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8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8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3" name="Google Shape;63;p18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4" name="Google Shape;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9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9"/>
          <p:cNvSpPr txBox="1"/>
          <p:nvPr>
            <p:ph type="title"/>
          </p:nvPr>
        </p:nvSpPr>
        <p:spPr>
          <a:xfrm>
            <a:off x="841248" y="457200"/>
            <a:ext cx="393192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9pPr>
          </a:lstStyle>
          <a:p/>
        </p:txBody>
      </p:sp>
      <p:sp>
        <p:nvSpPr>
          <p:cNvPr id="69" name="Google Shape;69;p19"/>
          <p:cNvSpPr txBox="1"/>
          <p:nvPr>
            <p:ph idx="2" type="body"/>
          </p:nvPr>
        </p:nvSpPr>
        <p:spPr>
          <a:xfrm>
            <a:off x="841248" y="2057399"/>
            <a:ext cx="393192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73" name="Google Shape;73;p19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74" name="Google Shape;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0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0"/>
          <p:cNvSpPr txBox="1"/>
          <p:nvPr>
            <p:ph type="title"/>
          </p:nvPr>
        </p:nvSpPr>
        <p:spPr>
          <a:xfrm>
            <a:off x="841248" y="457200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/>
          <p:nvPr>
            <p:ph idx="2" type="pic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20"/>
          <p:cNvSpPr txBox="1"/>
          <p:nvPr>
            <p:ph idx="1" type="body"/>
          </p:nvPr>
        </p:nvSpPr>
        <p:spPr>
          <a:xfrm>
            <a:off x="841248" y="2057400"/>
            <a:ext cx="393192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3" name="Google Shape;83;p20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4" name="Google Shape;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21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21"/>
          <p:cNvSpPr txBox="1"/>
          <p:nvPr>
            <p:ph idx="1" type="body"/>
          </p:nvPr>
        </p:nvSpPr>
        <p:spPr>
          <a:xfrm rot="5400000">
            <a:off x="3703449" y="-1477140"/>
            <a:ext cx="4798956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1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21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92" name="Google Shape;92;p21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3" name="Google Shape;9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 rot="5400000">
            <a:off x="7133431" y="1951831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 rot="5400000">
            <a:off x="1799431" y="-600869"/>
            <a:ext cx="5811837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0" name="Google Shape;100;p22"/>
          <p:cNvCxnSpPr/>
          <p:nvPr/>
        </p:nvCxnSpPr>
        <p:spPr>
          <a:xfrm>
            <a:off x="8724900" y="370119"/>
            <a:ext cx="0" cy="5806281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wo Content">
  <p:cSld name="1_Two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3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914399" y="1381181"/>
            <a:ext cx="5112328" cy="479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2" type="body"/>
          </p:nvPr>
        </p:nvSpPr>
        <p:spPr>
          <a:xfrm>
            <a:off x="6244770" y="1381181"/>
            <a:ext cx="5105400" cy="479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3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23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09" name="Google Shape;109;p23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0" name="Google Shape;11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">
  <p:cSld name="1_Comparis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4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4"/>
          <p:cNvSpPr txBox="1"/>
          <p:nvPr>
            <p:ph idx="1" type="body"/>
          </p:nvPr>
        </p:nvSpPr>
        <p:spPr>
          <a:xfrm>
            <a:off x="914399" y="1262291"/>
            <a:ext cx="5086928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24"/>
          <p:cNvSpPr txBox="1"/>
          <p:nvPr>
            <p:ph idx="2" type="body"/>
          </p:nvPr>
        </p:nvSpPr>
        <p:spPr>
          <a:xfrm>
            <a:off x="914399" y="2154891"/>
            <a:ext cx="5086928" cy="4033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15" name="Google Shape;115;p24"/>
          <p:cNvSpPr txBox="1"/>
          <p:nvPr>
            <p:ph idx="3" type="body"/>
          </p:nvPr>
        </p:nvSpPr>
        <p:spPr>
          <a:xfrm>
            <a:off x="6230257" y="1262288"/>
            <a:ext cx="5105400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24"/>
          <p:cNvSpPr txBox="1"/>
          <p:nvPr>
            <p:ph idx="4" type="body"/>
          </p:nvPr>
        </p:nvSpPr>
        <p:spPr>
          <a:xfrm>
            <a:off x="6230257" y="2154891"/>
            <a:ext cx="5105400" cy="40331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24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1" name="Google Shape;121;p24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2" name="Google Shape;12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5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" name="Google Shape;128;p25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9" name="Google Shape;129;p25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0" name="Google Shape;13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ntent with Caption">
  <p:cSld name="1_Content with Caption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6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 sz="2000"/>
            </a:lvl9pPr>
          </a:lstStyle>
          <a:p/>
        </p:txBody>
      </p:sp>
      <p:sp>
        <p:nvSpPr>
          <p:cNvPr id="134" name="Google Shape;134;p26"/>
          <p:cNvSpPr txBox="1"/>
          <p:nvPr>
            <p:ph idx="2" type="body"/>
          </p:nvPr>
        </p:nvSpPr>
        <p:spPr>
          <a:xfrm>
            <a:off x="841248" y="2191660"/>
            <a:ext cx="3931920" cy="36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5" name="Google Shape;13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26"/>
          <p:cNvSpPr txBox="1"/>
          <p:nvPr>
            <p:ph type="title"/>
          </p:nvPr>
        </p:nvSpPr>
        <p:spPr>
          <a:xfrm>
            <a:off x="841248" y="457200"/>
            <a:ext cx="3931920" cy="14877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>
                <a:solidFill>
                  <a:srgbClr val="3EADA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9" name="Google Shape;139;p26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40" name="Google Shape;1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Picture with Caption">
  <p:cSld name="1_Picture with Caption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7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7"/>
          <p:cNvSpPr/>
          <p:nvPr>
            <p:ph idx="2" type="pic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841248" y="2191660"/>
            <a:ext cx="3931920" cy="3675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8" name="Google Shape;148;p27"/>
          <p:cNvSpPr txBox="1"/>
          <p:nvPr>
            <p:ph type="title"/>
          </p:nvPr>
        </p:nvSpPr>
        <p:spPr>
          <a:xfrm>
            <a:off x="841248" y="457200"/>
            <a:ext cx="3931920" cy="14877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3200"/>
              <a:buFont typeface="Quattrocento Sans"/>
              <a:buNone/>
              <a:defRPr b="0" sz="3200">
                <a:solidFill>
                  <a:srgbClr val="3EADA7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49" name="Google Shape;149;p27"/>
          <p:cNvCxnSpPr/>
          <p:nvPr/>
        </p:nvCxnSpPr>
        <p:spPr>
          <a:xfrm>
            <a:off x="860600" y="2061029"/>
            <a:ext cx="393192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0" name="Google Shape;1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Vertical Text">
  <p:cSld name="1_Title and Vertical 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8"/>
          <p:cNvPicPr preferRelativeResize="0"/>
          <p:nvPr/>
        </p:nvPicPr>
        <p:blipFill rotWithShape="1">
          <a:blip r:embed="rId2">
            <a:alphaModFix/>
          </a:blip>
          <a:srcRect b="0" l="72690" r="0" t="69862"/>
          <a:stretch/>
        </p:blipFill>
        <p:spPr>
          <a:xfrm>
            <a:off x="9694748" y="4789714"/>
            <a:ext cx="2497252" cy="2068286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>
            <p:ph idx="1" type="body"/>
          </p:nvPr>
        </p:nvSpPr>
        <p:spPr>
          <a:xfrm rot="5400000">
            <a:off x="3715859" y="-1496477"/>
            <a:ext cx="4767210" cy="10522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54" name="Google Shape;154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28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" name="Google Shape;157;p28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8" name="Google Shape;158;p28"/>
          <p:cNvCxnSpPr/>
          <p:nvPr/>
        </p:nvCxnSpPr>
        <p:spPr>
          <a:xfrm>
            <a:off x="845127" y="1191932"/>
            <a:ext cx="10515600" cy="0"/>
          </a:xfrm>
          <a:prstGeom prst="straightConnector1">
            <a:avLst/>
          </a:prstGeom>
          <a:noFill/>
          <a:ln cap="flat" cmpd="sng" w="9525">
            <a:solidFill>
              <a:srgbClr val="3DACA7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59" name="Google Shape;15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0627" y="555008"/>
            <a:ext cx="80010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4400"/>
              <a:buFont typeface="Quattrocento Sans"/>
              <a:buNone/>
              <a:defRPr b="0" i="0" sz="4400" u="none" cap="none" strike="noStrike">
                <a:solidFill>
                  <a:srgbClr val="3EADA7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●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"/>
          <p:cNvSpPr txBox="1"/>
          <p:nvPr>
            <p:ph type="ctrTitle"/>
          </p:nvPr>
        </p:nvSpPr>
        <p:spPr>
          <a:xfrm>
            <a:off x="1524000" y="1063671"/>
            <a:ext cx="9753600" cy="18750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/>
              <a:t>MENTAL HEALTH COUNSELLING SUMMARIZATION</a:t>
            </a:r>
            <a:endParaRPr/>
          </a:p>
        </p:txBody>
      </p:sp>
      <p:sp>
        <p:nvSpPr>
          <p:cNvPr id="165" name="Google Shape;165;p1"/>
          <p:cNvSpPr txBox="1"/>
          <p:nvPr>
            <p:ph idx="1" type="subTitle"/>
          </p:nvPr>
        </p:nvSpPr>
        <p:spPr>
          <a:xfrm>
            <a:off x="5486400" y="3240578"/>
            <a:ext cx="5720080" cy="1737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rPr lang="en-US" sz="1820"/>
              <a:t>ANIKET DWIVEDI | MT24208</a:t>
            </a:r>
            <a:endParaRPr sz="1820"/>
          </a:p>
          <a:p>
            <a:pPr indent="-406400" lvl="0" marL="457200" rtl="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rPr lang="en-US" sz="1820"/>
              <a:t>KESHAV SHARMA | MT24214</a:t>
            </a:r>
            <a:endParaRPr sz="1820"/>
          </a:p>
          <a:p>
            <a:pPr indent="-406400" lvl="0" marL="457200" rtl="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rPr lang="en-US" sz="1820"/>
              <a:t>RITWIK GANGULY | MT24222</a:t>
            </a:r>
            <a:endParaRPr sz="1820"/>
          </a:p>
          <a:p>
            <a:pPr indent="-406400" lvl="0" marL="457200" rtl="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rPr lang="en-US" sz="1820"/>
              <a:t>CHANDRA PRAKASH AJAY | MT24301</a:t>
            </a:r>
            <a:endParaRPr sz="1820"/>
          </a:p>
          <a:p>
            <a:pPr indent="-406400" lvl="0" marL="457200" rtl="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rPr lang="en-US" sz="1820"/>
              <a:t>(GROUP 4)</a:t>
            </a:r>
            <a:endParaRPr sz="1820"/>
          </a:p>
          <a:p>
            <a:pPr indent="-406400" lvl="0" marL="457200" rtl="0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9F7F6"/>
              </a:buClr>
              <a:buSzPts val="2400"/>
              <a:buNone/>
            </a:pPr>
            <a:r>
              <a:t/>
            </a:r>
            <a:endParaRPr sz="182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</a:pPr>
            <a:r>
              <a:rPr lang="en-US"/>
              <a:t>Motivation &amp; Problem Statement</a:t>
            </a:r>
            <a:endParaRPr/>
          </a:p>
        </p:txBody>
      </p:sp>
      <p:sp>
        <p:nvSpPr>
          <p:cNvPr id="171" name="Google Shape;171;p2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Why This Project Matters ??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/>
              <a:t>Mental health counseling sessions are long and nuanced—manual review is time-consuming.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/>
              <a:t>Existing summarization tools lack domain awareness and miss emotional or speaker-specific cues.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/>
              <a:t>Quick, accurate summaries can aid therapists in tracking progress and improving care.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The Problem We're Addressing: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 sz="1700"/>
              <a:t>Goal: </a:t>
            </a:r>
            <a:br>
              <a:rPr b="1" lang="en-US" sz="1700"/>
            </a:br>
            <a:r>
              <a:rPr lang="en-US" sz="1700"/>
              <a:t>Develop an NLP model that generates empathetic, context-aware summaries of counseling conversations.</a:t>
            </a:r>
            <a:br>
              <a:rPr lang="en-US" sz="1700"/>
            </a:br>
            <a:endParaRPr sz="17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 sz="1700"/>
              <a:t>Challenges:</a:t>
            </a:r>
            <a:br>
              <a:rPr b="1" lang="en-US" sz="1700"/>
            </a:br>
            <a:r>
              <a:rPr lang="en-US" sz="1700"/>
              <a:t>Capturing speaker roles and emotional tone.</a:t>
            </a:r>
            <a:br>
              <a:rPr lang="en-US" sz="1700"/>
            </a:br>
            <a:r>
              <a:rPr lang="en-US" sz="1700"/>
              <a:t>Ensuring coherence and factual accuracy.</a:t>
            </a:r>
            <a:br>
              <a:rPr lang="en-US" sz="1700"/>
            </a:br>
            <a:endParaRPr sz="17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 sz="1700"/>
              <a:t>Approach: </a:t>
            </a:r>
            <a:br>
              <a:rPr b="1" lang="en-US" sz="1700"/>
            </a:br>
            <a:r>
              <a:rPr lang="en-US" sz="1700"/>
              <a:t>Use prompt engineering and multi-view summarization with speaker-emotion awareness to produce summaries tailored for mental health settings.</a:t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2286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 b="1"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</a:pPr>
            <a:r>
              <a:rPr lang="en-US"/>
              <a:t>Dataset Overview</a:t>
            </a:r>
            <a:endParaRPr/>
          </a:p>
        </p:txBody>
      </p:sp>
      <p:sp>
        <p:nvSpPr>
          <p:cNvPr id="177" name="Google Shape;177;p3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Noto Sans Symbols"/>
              <a:buChar char="⮚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MEMO_KDD_2022: </a:t>
            </a:r>
            <a:br>
              <a:rPr lang="en-US">
                <a:latin typeface="Calibri"/>
                <a:ea typeface="Calibri"/>
                <a:cs typeface="Calibri"/>
                <a:sym typeface="Calibri"/>
              </a:rPr>
            </a:br>
            <a:r>
              <a:rPr lang="en-US">
                <a:latin typeface="Calibri"/>
                <a:ea typeface="Calibri"/>
                <a:cs typeface="Calibri"/>
                <a:sym typeface="Calibri"/>
              </a:rPr>
              <a:t>Transcribed counseling sessions with splitted train, validation and test data.</a:t>
            </a:r>
            <a:endParaRPr/>
          </a:p>
          <a:p>
            <a:pPr indent="0" lvl="1" marL="5715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Contains: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Utterances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Emotions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Dialogue Acts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Summary, Primary Topic, Secondary Topic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75630"/>
              <a:buFont typeface="Noto Sans Symbols"/>
              <a:buChar char="⮚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Preprocessing: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b="0" i="0" lang="en-US" sz="1800" u="none" strike="noStrike">
                <a:latin typeface="Calibri"/>
                <a:ea typeface="Calibri"/>
                <a:cs typeface="Calibri"/>
                <a:sym typeface="Calibri"/>
              </a:rPr>
              <a:t>Expanding contractions, Lower casing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b="0" i="0" lang="en-US" sz="1800" u="none" strike="noStrike">
                <a:latin typeface="Calibri"/>
                <a:ea typeface="Calibri"/>
                <a:cs typeface="Calibri"/>
                <a:sym typeface="Calibri"/>
              </a:rPr>
              <a:t>Punctuation removal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b="0" i="0" lang="en-US" sz="1800" u="none" strike="noStrike">
                <a:latin typeface="Calibri"/>
                <a:ea typeface="Calibri"/>
                <a:cs typeface="Calibri"/>
                <a:sym typeface="Calibri"/>
              </a:rPr>
              <a:t>Lemmatization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b="0" i="0" lang="en-US" sz="1800" u="none" strike="noStrike">
                <a:latin typeface="Calibri"/>
                <a:ea typeface="Calibri"/>
                <a:cs typeface="Calibri"/>
                <a:sym typeface="Calibri"/>
              </a:rPr>
              <a:t>Encoding speaker roles to enhance model understanding.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b="0" i="0" lang="en-US" sz="1800" u="none" strike="noStrike">
                <a:latin typeface="Calibri"/>
                <a:ea typeface="Calibri"/>
                <a:cs typeface="Calibri"/>
                <a:sym typeface="Calibri"/>
              </a:rPr>
              <a:t>Analyzing dialogue acts to differentiate therapeutic strategies. 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b="0" i="0" lang="en-US" sz="1800" u="none" strike="noStrike">
                <a:latin typeface="Calibri"/>
                <a:ea typeface="Calibri"/>
                <a:cs typeface="Calibri"/>
                <a:sym typeface="Calibri"/>
              </a:rPr>
              <a:t>Careful handling of stop words and dialogue structures in preserving context.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7647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Emotion &amp; dialogue-act tagging</a:t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8235"/>
              <a:buFont typeface="Noto Sans Symbols"/>
              <a:buChar char="⮚"/>
            </a:pPr>
            <a:r>
              <a:rPr b="0" i="0" lang="en-US" sz="2400" u="none" strike="noStrike">
                <a:latin typeface="Calibri"/>
                <a:ea typeface="Calibri"/>
                <a:cs typeface="Calibri"/>
                <a:sym typeface="Calibri"/>
              </a:rPr>
              <a:t>To prepare the data for summarization, conversation utterances are aggregated while maintaining their order, and summaries are extracted separately.</a:t>
            </a:r>
            <a:br>
              <a:rPr lang="en-US" sz="2100">
                <a:latin typeface="Calibri"/>
                <a:ea typeface="Calibri"/>
                <a:cs typeface="Calibri"/>
                <a:sym typeface="Calibri"/>
              </a:rPr>
            </a:br>
            <a:endParaRPr sz="21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</a:pPr>
            <a:r>
              <a:rPr lang="en-US"/>
              <a:t>Baseline Models</a:t>
            </a:r>
            <a:endParaRPr/>
          </a:p>
        </p:txBody>
      </p:sp>
      <p:sp>
        <p:nvSpPr>
          <p:cNvPr id="183" name="Google Shape;183;p4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Font typeface="Noto Sans Symbols"/>
              <a:buChar char="⮚"/>
            </a:pPr>
            <a:r>
              <a:rPr lang="en-US"/>
              <a:t>Baseline 1 (T5 - Base):		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Font typeface="Arial"/>
              <a:buChar char="•"/>
            </a:pPr>
            <a:r>
              <a:rPr lang="en-US" sz="2100"/>
              <a:t>Fine-tuned </a:t>
            </a:r>
            <a:r>
              <a:rPr b="1" lang="en-US" sz="2100"/>
              <a:t>T5-base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Font typeface="Arial"/>
              <a:buChar char="•"/>
            </a:pPr>
            <a:r>
              <a:rPr lang="en-US" sz="2100"/>
              <a:t>Input: concatenated counselling session</a:t>
            </a:r>
            <a:endParaRPr b="1" sz="2100"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Font typeface="Arial"/>
              <a:buChar char="•"/>
            </a:pPr>
            <a:r>
              <a:rPr lang="en-US" sz="2100"/>
              <a:t>Output: single summary</a:t>
            </a:r>
            <a:endParaRPr b="1" sz="2100"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Font typeface="Arial"/>
              <a:buChar char="•"/>
            </a:pPr>
            <a:r>
              <a:rPr b="1" lang="en-US" sz="2100"/>
              <a:t>Results: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None/>
            </a:pPr>
            <a:r>
              <a:rPr b="1" lang="en-US" sz="2100"/>
              <a:t>BERTScore: 0.8261 (F1)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None/>
            </a:pPr>
            <a:r>
              <a:rPr b="1" lang="en-US" sz="2100"/>
              <a:t>BLEU: 1.6756/100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Font typeface="Arial"/>
              <a:buChar char="•"/>
            </a:pPr>
            <a:r>
              <a:rPr lang="en-US" sz="2100"/>
              <a:t>Identified Limitations: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None/>
            </a:pPr>
            <a:r>
              <a:rPr lang="en-US" sz="2100"/>
              <a:t>Ignores speaker/emotion information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None/>
            </a:pPr>
            <a:r>
              <a:rPr lang="en-US" sz="2100"/>
              <a:t>One-size summary lacks flexibility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None/>
            </a:pPr>
            <a:r>
              <a:t/>
            </a:r>
            <a:endParaRPr sz="2100"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2857"/>
              <a:buFont typeface="Noto Sans Symbols"/>
              <a:buChar char="⮚"/>
            </a:pPr>
            <a:r>
              <a:rPr lang="en-US"/>
              <a:t>Baseline 2 (T5-Large): 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Font typeface="Arial"/>
              <a:buChar char="•"/>
            </a:pPr>
            <a:r>
              <a:rPr lang="en-US" sz="2100"/>
              <a:t>Fine-tuned </a:t>
            </a:r>
            <a:r>
              <a:rPr b="1" lang="en-US" sz="2100"/>
              <a:t>T5-large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Font typeface="Arial"/>
              <a:buChar char="•"/>
            </a:pPr>
            <a:r>
              <a:rPr lang="en-US" sz="2100"/>
              <a:t>Input: concatenated counselling session</a:t>
            </a:r>
            <a:endParaRPr b="1" sz="2100"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Font typeface="Arial"/>
              <a:buChar char="•"/>
            </a:pPr>
            <a:r>
              <a:rPr lang="en-US" sz="2100"/>
              <a:t>Output: single summary</a:t>
            </a:r>
            <a:endParaRPr b="1" sz="2100"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Font typeface="Arial"/>
              <a:buChar char="•"/>
            </a:pPr>
            <a:r>
              <a:rPr b="1" lang="en-US" sz="2100"/>
              <a:t>Results: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None/>
            </a:pPr>
            <a:r>
              <a:rPr b="1" lang="en-US" sz="2100"/>
              <a:t>BERTScore: 0.83 (F1)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None/>
            </a:pPr>
            <a:r>
              <a:rPr b="1" lang="en-US" sz="2100"/>
              <a:t>BLEU: 1.69/100</a:t>
            </a:r>
            <a:endParaRPr/>
          </a:p>
          <a:p>
            <a:pPr indent="-342900" lvl="2" marL="1371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Font typeface="Arial"/>
              <a:buChar char="•"/>
            </a:pPr>
            <a:r>
              <a:rPr lang="en-US" sz="2100"/>
              <a:t>Identified Limitations: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None/>
            </a:pPr>
            <a:r>
              <a:rPr lang="en-US" sz="2100"/>
              <a:t>Ignores speaker/emotion information</a:t>
            </a:r>
            <a:endParaRPr/>
          </a:p>
          <a:p>
            <a:pPr indent="0" lvl="3" marL="14859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37143"/>
              <a:buNone/>
            </a:pPr>
            <a:r>
              <a:rPr lang="en-US" sz="2100"/>
              <a:t>One-size summary lacks flexibility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</a:pPr>
            <a:r>
              <a:rPr lang="en-US"/>
              <a:t>Advancing Beyond the Baselines</a:t>
            </a:r>
            <a:endParaRPr/>
          </a:p>
        </p:txBody>
      </p:sp>
      <p:sp>
        <p:nvSpPr>
          <p:cNvPr id="189" name="Google Shape;189;p5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b="1" lang="en-US" sz="1900"/>
              <a:t>Multi-View Summarization</a:t>
            </a:r>
            <a:r>
              <a:rPr lang="en-US" sz="1900"/>
              <a:t> </a:t>
            </a:r>
            <a:endParaRPr i="1" sz="19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/>
              <a:t>Generates both overview &amp; detailed summaries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/>
              <a:t>Leverages speaker-aware embeddings and emotion tags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/>
              <a:t>Uses T5-Large with LoRA fine-tuning + PEFT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/>
              <a:t>Fuses speaker role and emotional state for tailored summaries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700"/>
              <a:t>Evaluated with BLEU, ROUGE-L, and BERTScore for quality assessment.</a:t>
            </a:r>
            <a:endParaRPr/>
          </a:p>
          <a:p>
            <a:pPr indent="0" lvl="1" marL="5715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700"/>
          </a:p>
          <a:p>
            <a:pPr indent="0" lvl="1" marL="5715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b="1" lang="en-US" sz="1900"/>
              <a:t>Prompt Engineering</a:t>
            </a:r>
            <a:endParaRPr i="1" sz="1900"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500"/>
              <a:t>Use Zero shot prompt at the time of </a:t>
            </a:r>
            <a:r>
              <a:rPr b="1" lang="en-US" sz="1500"/>
              <a:t>model building and inference.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500"/>
              <a:t>The helped the LLM model to understand the context.</a:t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/>
          <p:nvPr>
            <p:ph type="title"/>
          </p:nvPr>
        </p:nvSpPr>
        <p:spPr>
          <a:xfrm>
            <a:off x="845127" y="447656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</a:pPr>
            <a:r>
              <a:rPr lang="en-US"/>
              <a:t>Implementation Details </a:t>
            </a:r>
            <a:endParaRPr/>
          </a:p>
        </p:txBody>
      </p:sp>
      <p:sp>
        <p:nvSpPr>
          <p:cNvPr id="195" name="Google Shape;195;p6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82949"/>
              <a:buFont typeface="Noto Sans Symbols"/>
              <a:buChar char="⮚"/>
            </a:pPr>
            <a:r>
              <a:rPr lang="en-US"/>
              <a:t>Multi-View Summarization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/>
              <a:t>Custom preprocessing: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6129"/>
              <a:buNone/>
            </a:pPr>
            <a:r>
              <a:rPr lang="en-US"/>
              <a:t>Speaker + Emotion Fusion: </a:t>
            </a:r>
            <a:br>
              <a:rPr lang="en-US"/>
            </a:br>
            <a:br>
              <a:rPr lang="en-US"/>
            </a:br>
            <a:r>
              <a:rPr lang="en-US"/>
              <a:t>Each utterance is tagged with speaker identity and predicted emotion. </a:t>
            </a:r>
            <a:br>
              <a:rPr lang="en-US"/>
            </a:br>
            <a:r>
              <a:rPr lang="en-US"/>
              <a:t>These tags are prepended as prompt tokens to form multi-view input representations.</a:t>
            </a:r>
            <a:br>
              <a:rPr lang="en-US"/>
            </a:b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/>
              <a:t>Model: T5-Large with LoRA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6129"/>
              <a:buNone/>
            </a:pPr>
            <a:r>
              <a:rPr lang="en-US"/>
              <a:t>Fine-tuned T5-Large using Low-Rank Adaptation (LoRA) for parameter-efficient updates.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6129"/>
              <a:buNone/>
            </a:pPr>
            <a:r>
              <a:rPr lang="en-US"/>
              <a:t>Multi-view information is injected into the encoder input via structured prompts (e.g., role + emotion cues).</a:t>
            </a:r>
            <a:endParaRPr/>
          </a:p>
          <a:p>
            <a:pPr indent="0" lvl="2" marL="10287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16129"/>
              <a:buNone/>
            </a:pPr>
            <a:r>
              <a:rPr lang="en-US"/>
              <a:t>PEFT (Parameter-Efficient Fine-Tuning) allows scalable training on limited resources.</a:t>
            </a:r>
            <a:br>
              <a:rPr lang="en-US"/>
            </a:b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96774"/>
              <a:buFont typeface="Arial"/>
              <a:buChar char="•"/>
            </a:pPr>
            <a:r>
              <a:rPr lang="en-US"/>
              <a:t>Training Strategy:</a:t>
            </a:r>
            <a:br>
              <a:rPr lang="en-US"/>
            </a:br>
            <a:br>
              <a:rPr lang="en-US"/>
            </a:br>
            <a:r>
              <a:rPr lang="en-US" sz="2000"/>
              <a:t>Epoch-wise Loss Review: Train and validation loss are manually evaluated after each epoch to assess interpretability.</a:t>
            </a:r>
            <a:br>
              <a:rPr lang="en-US" sz="2000"/>
            </a:br>
            <a:br>
              <a:rPr lang="en-US" sz="2000"/>
            </a:br>
            <a:r>
              <a:rPr lang="en-US" sz="2000"/>
              <a:t>Hyperparameter Tuning: Learning rate, LoRA rank, and batch size are tuned for optimal balance between summary coherence and diversity.</a:t>
            </a:r>
            <a:br>
              <a:rPr lang="en-US"/>
            </a:br>
            <a:r>
              <a:rPr lang="en-US"/>
              <a:t>  </a:t>
            </a:r>
            <a:br>
              <a:rPr lang="en-US"/>
            </a:br>
            <a:r>
              <a:rPr lang="en-US"/>
              <a:t>	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"/>
          <p:cNvSpPr txBox="1"/>
          <p:nvPr>
            <p:ph type="title"/>
          </p:nvPr>
        </p:nvSpPr>
        <p:spPr>
          <a:xfrm>
            <a:off x="845127" y="447656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</a:pPr>
            <a:r>
              <a:rPr lang="en-US"/>
              <a:t>Implementation Details </a:t>
            </a:r>
            <a:endParaRPr/>
          </a:p>
        </p:txBody>
      </p:sp>
      <p:sp>
        <p:nvSpPr>
          <p:cNvPr id="201" name="Google Shape;201;p7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/>
              <a:t>Prompt Engineering</a:t>
            </a:r>
            <a:br>
              <a:rPr lang="en-US"/>
            </a:b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/>
              <a:t>Baseline Establishment: </a:t>
            </a:r>
            <a:r>
              <a:rPr lang="en-US" sz="1800"/>
              <a:t>Provides a performance base-line against which the effectiveness of fine-tuned models(like the LoRA/QLoRA adapted MentalLlama or T5) can be measured</a:t>
            </a:r>
            <a:r>
              <a:rPr b="1" lang="en-US"/>
              <a:t>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/>
              <a:t>Capability Assessment: </a:t>
            </a:r>
            <a:r>
              <a:rPr lang="en-US" sz="1800"/>
              <a:t>Evaluates the inherent abilityof large pre-trained models to understand and summarizecomplex, sensitive mental health conversations withouttask-specific training data</a:t>
            </a:r>
            <a:r>
              <a:rPr b="1" lang="en-US" sz="1800"/>
              <a:t>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/>
              <a:t>• Resource Efficiency: </a:t>
            </a:r>
            <a:r>
              <a:rPr lang="en-US" sz="1800"/>
              <a:t>Offers a method to generate sum-maries when computational resources or labeled fine-tuning data (dialogue-summary pairs) are limited or un-available</a:t>
            </a:r>
            <a:r>
              <a:rPr b="1" lang="en-US" sz="1800"/>
              <a:t>.</a:t>
            </a:r>
            <a:endParaRPr/>
          </a:p>
          <a:p>
            <a:pPr indent="-342900" lvl="1" marL="914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1" lang="en-US"/>
              <a:t>• Rapid Prototyping</a:t>
            </a:r>
            <a:r>
              <a:rPr lang="en-US"/>
              <a:t>: </a:t>
            </a:r>
            <a:r>
              <a:rPr lang="en-US" sz="1800"/>
              <a:t>Allows for quick testing of summa-rization ideas using different prompts before committing to a full fine-tuning cycle.  </a:t>
            </a:r>
            <a:br>
              <a:rPr lang="en-US" sz="1800"/>
            </a:br>
            <a:r>
              <a:rPr lang="en-US"/>
              <a:t>	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</a:pPr>
            <a:r>
              <a:rPr lang="en-US"/>
              <a:t>Results &amp; Baselines Comparison</a:t>
            </a:r>
            <a:endParaRPr/>
          </a:p>
        </p:txBody>
      </p:sp>
      <p:sp>
        <p:nvSpPr>
          <p:cNvPr id="207" name="Google Shape;207;p8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08" name="Google Shape;208;p8"/>
          <p:cNvGraphicFramePr/>
          <p:nvPr/>
        </p:nvGraphicFramePr>
        <p:xfrm>
          <a:off x="220973" y="24672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{B24FC957-08CD-4BD1-8F74-FA6AA4813D91}</a:tableStyleId>
              </a:tblPr>
              <a:tblGrid>
                <a:gridCol w="2099050"/>
                <a:gridCol w="460725"/>
                <a:gridCol w="504150"/>
                <a:gridCol w="470050"/>
                <a:gridCol w="494800"/>
                <a:gridCol w="482425"/>
                <a:gridCol w="482425"/>
                <a:gridCol w="482425"/>
                <a:gridCol w="515450"/>
                <a:gridCol w="600000"/>
                <a:gridCol w="600000"/>
                <a:gridCol w="578650"/>
                <a:gridCol w="578650"/>
                <a:gridCol w="578650"/>
                <a:gridCol w="578650"/>
                <a:gridCol w="583175"/>
                <a:gridCol w="583175"/>
                <a:gridCol w="583175"/>
              </a:tblGrid>
              <a:tr h="9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BLEU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BERT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Score  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BERT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Score 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BERTScore 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 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 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ROGUEL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ROGUEL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ROGUEL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F1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2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T5-Large + PHQ9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0.93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0.835</a:t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0.802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0.818</a:t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20.56</a:t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1.11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0.30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0.1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0.2</a:t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0.098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0.12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0.02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0.009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0.009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0.14</a:t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0.09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0.088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</a:tr>
              <a:tr h="79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9" name="Google Shape;209;p8"/>
          <p:cNvSpPr txBox="1"/>
          <p:nvPr/>
        </p:nvSpPr>
        <p:spPr>
          <a:xfrm>
            <a:off x="4693791" y="1830653"/>
            <a:ext cx="8746309" cy="447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ct val="58442"/>
              <a:buFont typeface="Quattrocento Sans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T5-Large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</a:pPr>
            <a:r>
              <a:rPr lang="en-US"/>
              <a:t>Results &amp; Baselines Comparison</a:t>
            </a:r>
            <a:endParaRPr/>
          </a:p>
        </p:txBody>
      </p:sp>
      <p:sp>
        <p:nvSpPr>
          <p:cNvPr id="215" name="Google Shape;215;p9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16" name="Google Shape;216;p9"/>
          <p:cNvGraphicFramePr/>
          <p:nvPr/>
        </p:nvGraphicFramePr>
        <p:xfrm>
          <a:off x="71116" y="22145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{B24FC957-08CD-4BD1-8F74-FA6AA4813D91}</a:tableStyleId>
              </a:tblPr>
              <a:tblGrid>
                <a:gridCol w="2250750"/>
                <a:gridCol w="545975"/>
                <a:gridCol w="540575"/>
                <a:gridCol w="517300"/>
                <a:gridCol w="517300"/>
                <a:gridCol w="511350"/>
                <a:gridCol w="523225"/>
                <a:gridCol w="517300"/>
                <a:gridCol w="552700"/>
                <a:gridCol w="643350"/>
                <a:gridCol w="643350"/>
                <a:gridCol w="620450"/>
                <a:gridCol w="620450"/>
                <a:gridCol w="620450"/>
                <a:gridCol w="620450"/>
                <a:gridCol w="625300"/>
                <a:gridCol w="625300"/>
                <a:gridCol w="625300"/>
              </a:tblGrid>
              <a:tr h="829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BLEU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BERT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Score  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BERT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Score 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BERTScore 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 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 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ROGUEL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ROGUEL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ROGUEL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F1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1004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3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T5-Base (Baseline)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1.6756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0.8204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0.847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0.826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27.67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11.37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3.42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1.08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0.2753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0.40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0.2844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0.0732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0.0904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0.0766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0.1838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0.3042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0.2001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</a:tr>
              <a:tr h="1033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4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Bart Base + Multi-View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4.54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0.8327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0.845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0.838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23.08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8.91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2.67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0.78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0.2098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0.3548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0.2387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0.0550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0.0787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0.0618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0.1552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0.2778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/>
                        <a:t>0.1773</a:t>
                      </a:r>
                      <a:endParaRPr b="0" sz="900" u="none" cap="none" strike="noStrike"/>
                    </a:p>
                  </a:txBody>
                  <a:tcPr marT="45725" marB="45725" marR="91450" marL="91450"/>
                </a:tc>
              </a:tr>
              <a:tr h="89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T5-Large + Multi-View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5.96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0.8415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0.860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0.850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29.34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11.08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0070C0"/>
                          </a:solidFill>
                        </a:rPr>
                        <a:t>3.39</a:t>
                      </a:r>
                      <a:endParaRPr b="0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1.15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0.2802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0.3866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0.2913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0.0781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0.0934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0.0804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0.2005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</a:rPr>
                        <a:t>0.2896</a:t>
                      </a:r>
                      <a:endParaRPr sz="9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0.2077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17" name="Google Shape;217;p9"/>
          <p:cNvSpPr txBox="1"/>
          <p:nvPr/>
        </p:nvSpPr>
        <p:spPr>
          <a:xfrm>
            <a:off x="3332351" y="1647534"/>
            <a:ext cx="8746309" cy="447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ct val="58442"/>
              <a:buFont typeface="Quattrocento Sans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MULTIVIEW SUMMARIZATION</a:t>
            </a:r>
            <a:endParaRPr b="0" i="0" sz="44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</a:pPr>
            <a:r>
              <a:rPr lang="en-US"/>
              <a:t>Results &amp; Baselines Comparison</a:t>
            </a:r>
            <a:endParaRPr/>
          </a:p>
        </p:txBody>
      </p:sp>
      <p:sp>
        <p:nvSpPr>
          <p:cNvPr id="223" name="Google Shape;223;p10"/>
          <p:cNvSpPr txBox="1"/>
          <p:nvPr>
            <p:ph idx="1" type="body"/>
          </p:nvPr>
        </p:nvSpPr>
        <p:spPr>
          <a:xfrm>
            <a:off x="845127" y="1381182"/>
            <a:ext cx="10515600" cy="4798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1143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24" name="Google Shape;224;p10"/>
          <p:cNvGraphicFramePr/>
          <p:nvPr/>
        </p:nvGraphicFramePr>
        <p:xfrm>
          <a:off x="220973" y="246729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{B24FC957-08CD-4BD1-8F74-FA6AA4813D91}</a:tableStyleId>
              </a:tblPr>
              <a:tblGrid>
                <a:gridCol w="2099050"/>
                <a:gridCol w="460725"/>
                <a:gridCol w="504150"/>
                <a:gridCol w="470050"/>
                <a:gridCol w="494800"/>
                <a:gridCol w="482425"/>
                <a:gridCol w="482425"/>
                <a:gridCol w="482425"/>
                <a:gridCol w="515450"/>
                <a:gridCol w="600000"/>
                <a:gridCol w="600000"/>
                <a:gridCol w="578650"/>
                <a:gridCol w="578650"/>
                <a:gridCol w="578650"/>
                <a:gridCol w="578650"/>
                <a:gridCol w="583175"/>
                <a:gridCol w="583175"/>
                <a:gridCol w="583175"/>
              </a:tblGrid>
              <a:tr h="9871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00"/>
                        <a:buFont typeface="Arial"/>
                        <a:buNone/>
                      </a:pPr>
                      <a:r>
                        <a:rPr lang="en-US" sz="700" u="none" cap="none" strike="noStrike"/>
                        <a:t>BLEU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BERT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Score  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BERT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Score 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BERTScore 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2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BLEU 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 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 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ROGUE2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F1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ROGUEL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P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ROGUEL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ROGUEL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2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cap="none" strike="noStrike"/>
                        <a:t>F1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924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n-US" sz="1400" u="none" cap="none" strike="noStrike"/>
                        <a:t>T5-BASE + PROMPTING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0.19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0.814</a:t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0.802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0.808</a:t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18.56</a:t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1.05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0.24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0.06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0.176</a:t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0.087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0.089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0.014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0.005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0.007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0.129</a:t>
                      </a:r>
                      <a:endParaRPr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0.071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5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0.066</a:t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</a:tr>
              <a:tr h="793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400" u="none" cap="none" strike="noStrike"/>
                        <a:t>MENTAL LLAMA +</a:t>
                      </a:r>
                      <a:br>
                        <a:rPr b="1" lang="en-US" sz="1400" u="none" cap="none" strike="noStrike"/>
                      </a:br>
                      <a:r>
                        <a:rPr b="1" lang="en-US" sz="1400" u="none" cap="none" strike="noStrike"/>
                        <a:t>PROMPTING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1.07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/>
                        <a:t>0.76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0070C0"/>
                          </a:solidFill>
                        </a:rPr>
                        <a:t>0.83</a:t>
                      </a:r>
                      <a:endParaRPr b="1" sz="900" u="none" cap="none" strike="noStrike">
                        <a:solidFill>
                          <a:srgbClr val="0070C0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/>
                        <a:t>0.801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11.55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1.60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0.43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0.16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0.119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0.495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0.188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0.017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0.075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0.027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0.054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0.239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solidFill>
                            <a:srgbClr val="0070C0"/>
                          </a:solidFill>
                        </a:rPr>
                        <a:t>0.086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6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25" name="Google Shape;225;p10"/>
          <p:cNvSpPr txBox="1"/>
          <p:nvPr/>
        </p:nvSpPr>
        <p:spPr>
          <a:xfrm>
            <a:off x="4693791" y="1830653"/>
            <a:ext cx="8746309" cy="4473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ct val="58442"/>
              <a:buFont typeface="Quattrocento Sans"/>
              <a:buNone/>
            </a:pPr>
            <a:r>
              <a:rPr b="0" i="0" lang="en-US" sz="44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PROMPTING</a:t>
            </a:r>
            <a:endParaRPr b="0" i="0" sz="4400" u="none" cap="none" strike="noStrike">
              <a:solidFill>
                <a:schemeClr val="dk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"/>
          <p:cNvSpPr txBox="1"/>
          <p:nvPr>
            <p:ph type="title"/>
          </p:nvPr>
        </p:nvSpPr>
        <p:spPr>
          <a:xfrm>
            <a:off x="845127" y="365760"/>
            <a:ext cx="9445502" cy="826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EADA7"/>
              </a:buClr>
              <a:buSzPts val="1800"/>
              <a:buNone/>
            </a:pPr>
            <a:r>
              <a:rPr lang="en-US"/>
              <a:t>Conclusion &amp; Future Work</a:t>
            </a:r>
            <a:endParaRPr/>
          </a:p>
        </p:txBody>
      </p:sp>
      <p:sp>
        <p:nvSpPr>
          <p:cNvPr id="231" name="Google Shape;231;p11"/>
          <p:cNvSpPr txBox="1"/>
          <p:nvPr>
            <p:ph idx="1" type="body"/>
          </p:nvPr>
        </p:nvSpPr>
        <p:spPr>
          <a:xfrm>
            <a:off x="743527" y="953047"/>
            <a:ext cx="8847513" cy="323165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Multi-view summarization enhances </a:t>
            </a: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depth and relevance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Speaker &amp; emotional views improve </a:t>
            </a: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contextual retention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Future Scope: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</a:t>
            </a: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reinforcement learning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factuality</a:t>
            </a:r>
            <a:endParaRPr/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Explore </a:t>
            </a: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contrastive training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Human evaluation for real-world viability</a:t>
            </a:r>
            <a:endParaRPr/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IIT D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2025-04-14T08:50:11Z</dcterms:created>
  <dc:creator>Keshav Sharma</dc:creator>
</cp:coreProperties>
</file>